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E21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Coffee</c:v>
                  </c:pt>
                  <c:pt idx="1">
                    <c:v>Tea</c:v>
                  </c:pt>
                  <c:pt idx="2">
                    <c:v>Bakery</c:v>
                  </c:pt>
                  <c:pt idx="3">
                    <c:v>Drinking
Chocolate</c:v>
                  </c:pt>
                  <c:pt idx="4">
                    <c:v>Coffee
beans</c:v>
                  </c:pt>
                  <c:pt idx="5">
                    <c:v>Branded</c:v>
                  </c:pt>
                  <c:pt idx="6">
                    <c:v>Loose Tea</c:v>
                  </c:pt>
                  <c:pt idx="7">
                    <c:v>Flavours</c:v>
                  </c:pt>
                  <c:pt idx="8">
                    <c:v>Packaged
Chocolate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269952.45</c:v>
                </c:pt>
                <c:pt idx="1">
                  <c:v>196405.95</c:v>
                </c:pt>
                <c:pt idx="2">
                  <c:v>82315.64</c:v>
                </c:pt>
                <c:pt idx="3">
                  <c:v>72416</c:v>
                </c:pt>
                <c:pt idx="4">
                  <c:v>40085.25</c:v>
                </c:pt>
                <c:pt idx="5">
                  <c:v>13607</c:v>
                </c:pt>
                <c:pt idx="6">
                  <c:v>11213.6</c:v>
                </c:pt>
                <c:pt idx="7">
                  <c:v>8408.8</c:v>
                </c:pt>
                <c:pt idx="8">
                  <c:v>4407.64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2E21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E211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DDDDD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A6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BF8F3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E211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E211C"/>
                </a:solidFill>
                <a:latin typeface="Arial"/>
              </a:rPr>
              <a:t>Top 5 Product Types by Revenue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E21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Barista
Espresso</c:v>
                  </c:pt>
                  <c:pt idx="1">
                    <c:v>Brewed
Chai tea</c:v>
                  </c:pt>
                  <c:pt idx="2">
                    <c:v>Hot
chocolate</c:v>
                  </c:pt>
                  <c:pt idx="3">
                    <c:v>Gourmet
brewed coffee</c:v>
                  </c:pt>
                  <c:pt idx="4">
                    <c:v>Brewed
Black tea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91406.2</c:v>
                </c:pt>
                <c:pt idx="1">
                  <c:v>77081.95</c:v>
                </c:pt>
                <c:pt idx="2">
                  <c:v>72416</c:v>
                </c:pt>
                <c:pt idx="3">
                  <c:v>70034.6</c:v>
                </c:pt>
                <c:pt idx="4">
                  <c:v>47932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2E21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E211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DDDDD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6A6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BF8F3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E21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06:00-08:59</c:v>
                  </c:pt>
                  <c:pt idx="1">
                    <c:v>09:00-11:59</c:v>
                  </c:pt>
                  <c:pt idx="2">
                    <c:v>12:00-14:59</c:v>
                  </c:pt>
                  <c:pt idx="3">
                    <c:v>15:00-17:59</c:v>
                  </c:pt>
                  <c:pt idx="4">
                    <c:v>18:00-20:59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168126.61</c:v>
                </c:pt>
                <c:pt idx="1">
                  <c:v>220162.06</c:v>
                </c:pt>
                <c:pt idx="2">
                  <c:v>121864.98</c:v>
                </c:pt>
                <c:pt idx="3">
                  <c:v>122990.16</c:v>
                </c:pt>
                <c:pt idx="4">
                  <c:v>65668.52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E21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E211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DDDDD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A6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BF8F3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E211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E211C"/>
                </a:solidFill>
                <a:latin typeface="Arial"/>
              </a:rPr>
              <a:t>Revenue by Day of Week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A7BEA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101677.28</c:v>
                </c:pt>
                <c:pt idx="1">
                  <c:v>99455.94</c:v>
                </c:pt>
                <c:pt idx="2">
                  <c:v>100313.54</c:v>
                </c:pt>
                <c:pt idx="3">
                  <c:v>100767.78</c:v>
                </c:pt>
                <c:pt idx="4">
                  <c:v>101373</c:v>
                </c:pt>
                <c:pt idx="5">
                  <c:v>96894.48</c:v>
                </c:pt>
                <c:pt idx="6">
                  <c:v>98330.31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E211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90000"/>
        </c:scaling>
        <c:delete val="0"/>
        <c:axPos val="l"/>
        <c:majorGridlines>
          <c:spPr>
            <a:ln w="9525" cap="flat">
              <a:solidFill>
                <a:srgbClr val="DDDDDD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6A6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BF8F3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E211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E211C"/>
                </a:solidFill>
                <a:latin typeface="Arial"/>
              </a:rPr>
              <a:t>Revenue Trend, Jan – Jun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B85042"/>
            </a:solidFill>
            <a:ln w="38100" cap="flat">
              <a:solidFill>
                <a:srgbClr val="B85042"/>
              </a:solidFill>
              <a:prstDash val="solid"/>
              <a:round/>
            </a:ln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E21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85042"/>
              </a:solidFill>
              <a:ln w="9525" cap="flat">
                <a:solidFill>
                  <a:srgbClr val="B8504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81677.74</c:v>
                </c:pt>
                <c:pt idx="1">
                  <c:v>76145.19</c:v>
                </c:pt>
                <c:pt idx="2">
                  <c:v>98834.68</c:v>
                </c:pt>
                <c:pt idx="3">
                  <c:v>118941.08</c:v>
                </c:pt>
                <c:pt idx="4">
                  <c:v>156727.76</c:v>
                </c:pt>
                <c:pt idx="5">
                  <c:v>166485.88</c:v>
                </c:pt>
              </c:numCache>
            </c:numRef>
          </c:val>
          <c:smooth val="0"/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2E21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E211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DDDDD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6A6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BF8F3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A7BEAE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E21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Dark
chocolate</c:v>
                  </c:pt>
                  <c:pt idx="1">
                    <c:v>Earl Grey</c:v>
                  </c:pt>
                  <c:pt idx="2">
                    <c:v>Spicy Eye
Opener Chai</c:v>
                  </c:pt>
                  <c:pt idx="3">
                    <c:v>Guatemalan
Sustainably Grown</c:v>
                  </c:pt>
                  <c:pt idx="4">
                    <c:v>Lemon Grass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755.2</c:v>
                </c:pt>
                <c:pt idx="1">
                  <c:v>1270.9</c:v>
                </c:pt>
                <c:pt idx="2">
                  <c:v>1335.9</c:v>
                </c:pt>
                <c:pt idx="3">
                  <c:v>1340</c:v>
                </c:pt>
                <c:pt idx="4">
                  <c:v>1360.4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E21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E211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DDDDD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6A6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BF8F3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2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A2A2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Sales Analysis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Insights to Grow Revenue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CEO  •  Junior Data Analyst Presentation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149,116 transactions  •  3 New York stores  •  January – June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21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Business Context &amp; Objective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CEO has set a clear mandate: grow revenue and improve product performance.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486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products generate the most revenue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time of day the store performs best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sales trends across products and time intervals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clear, data-backed recommendations for growth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92240" y="1554480"/>
            <a:ext cx="5029200" cy="4572000"/>
          </a:xfrm>
          <a:prstGeom prst="roundRect">
            <a:avLst>
              <a:gd name="adj" fmla="val 2400"/>
            </a:avLst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0" y="17830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0" y="22402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149,116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0" y="277063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analyzed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0" y="320040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858000" y="373075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store locations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0" y="416052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Jan – Jun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858000" y="469087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months of daily sales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0" y="512064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858000" y="565099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products tracked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 |  Sales Analysis  |  Prepared for the CEO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21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Our 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2651760" cy="39319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1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&amp; architecture mapped in Miro: source, ETL pipeline, storage, analysis, reporting.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20440" y="1737360"/>
            <a:ext cx="2651760" cy="39319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49040" y="201168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749040" y="27432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1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Process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749040" y="32004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cleaned and transformed in Databricks using SQL — fixed unit_price formatting, computed total_amount, built a 3-hour transaction_time_bucket.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737360"/>
            <a:ext cx="2651760" cy="39319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29400" y="201168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29400" y="27432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1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Analyze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629400" y="32004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 and native charts built in Excel: revenue, units sold, and transaction counts by category, product, time, day, month, and store.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281160" y="1737360"/>
            <a:ext cx="2651760" cy="39319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09760" y="201168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0" name="Text 18"/>
          <p:cNvSpPr/>
          <p:nvPr/>
        </p:nvSpPr>
        <p:spPr>
          <a:xfrm>
            <a:off x="950976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509760" y="27432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1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Present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509760" y="32004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consolidated into this presentation to support CEO decision-making.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 |  Sales Analysis  |  Prepared for the CEO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A2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Headline Numbers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4A362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659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7E8D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$698,812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520440" y="173736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4A362E"/>
          </a:solidFill>
          <a:ln/>
        </p:spPr>
      </p:sp>
      <p:sp>
        <p:nvSpPr>
          <p:cNvPr id="7" name="Text 5"/>
          <p:cNvSpPr/>
          <p:nvPr/>
        </p:nvSpPr>
        <p:spPr>
          <a:xfrm>
            <a:off x="3520440" y="19659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7E8D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214,470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520440" y="2880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173736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4A362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9659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7E8D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149,116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400800" y="2880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281160" y="173736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4A362E"/>
          </a:solidFill>
          <a:ln/>
        </p:spPr>
      </p:sp>
      <p:sp>
        <p:nvSpPr>
          <p:cNvPr id="13" name="Text 11"/>
          <p:cNvSpPr/>
          <p:nvPr/>
        </p:nvSpPr>
        <p:spPr>
          <a:xfrm>
            <a:off x="9281160" y="19659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7E8D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$4.69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9281160" y="2880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store locations — Hell's Kitchen, Astoria, and Lower Manhattan — each contribute roughly a third of total revenue, showing a well-balanced portfolio.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 |  Sales Analysis  |  Prepared for the CEO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21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Revenue by Product Category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and Tea together drive 67% of total revenue.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737360"/>
          <a:ext cx="112471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 |  Sales Analysis  |  Prepared for the CEO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21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Top Performing Products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554480"/>
          <a:ext cx="64008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178040" y="1737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Best-selling product details: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178040" y="214884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Sustainably Grown Organic (Lg) — $21,152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chocolate (Lg) — $21,006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Latte (Rg) — $19,112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Cappuccino (Lg) — $17,642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Sunrise Chai (Lg) — $17,384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 |  Sales Analysis  |  Prepared for the CEO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21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When the Store Performs Best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trade (09h00–11h59) is the clear revenue peak.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737360"/>
          <a:ext cx="11247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 |  Sales Analysis  |  Prepared for the CEO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21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Trends Across Days &amp; Months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554480"/>
          <a:ext cx="548640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172200" y="1554480"/>
          <a:ext cx="55321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 |  Sales Analysis  |  Prepared for the CEO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21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Underperforming Products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for promotion, bundling, or menu review.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73736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406640" y="1920240"/>
            <a:ext cx="4297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Chocolate and Loose Tea are the weakest categories overall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lowest-revenue items sit well below the $698K portfolio average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sales may reflect low visibility rather than low demand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 |  Sales Analysis  |  Prepared for the CEO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A2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4A362E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984248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842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91640" y="18470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8D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Target Off-Peak Hours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91640" y="221284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marketing campaigns and promotions during slow afternoon and evening slots (12h00–20h59) to lift off-peak revenue.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4A362E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3172968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1729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91640" y="30358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8D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Protect the Morning Rush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91640" y="340156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strong stock levels of best-sellers — Espresso, Chai tea, Hot chocolate — especially in the 06h00–11h59 peak window.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1148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4A362E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361688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361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91640" y="42245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8D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Promote Underperformers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91640" y="459028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and promote low-revenue products such as Dark chocolate and specialty teas to boost visibility.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53035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4A362E"/>
          </a:solidFill>
          <a:ln/>
        </p:spPr>
      </p:sp>
      <p:sp>
        <p:nvSpPr>
          <p:cNvPr id="19" name="Shape 17"/>
          <p:cNvSpPr/>
          <p:nvPr/>
        </p:nvSpPr>
        <p:spPr>
          <a:xfrm>
            <a:off x="868680" y="5550408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5504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691640" y="54132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8D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Ride the Summer Uplift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91640" y="577900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Capitalize on the strong Jan–Jun growth trend with seasonal offers into the summer months.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 |  Sales Analysis  |  Prepared for the CEO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21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920240"/>
            <a:ext cx="548640" cy="54864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91640" y="1737360"/>
            <a:ext cx="9509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daily and weekly sales reporting for real-time visibility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971800"/>
            <a:ext cx="548640" cy="54864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91640" y="2788920"/>
            <a:ext cx="9509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tracking to compare performance across all store locations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4023360"/>
            <a:ext cx="548640" cy="54864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91640" y="3840480"/>
            <a:ext cx="9509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loyalty programme targeted at peak customer time slots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8920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5074920"/>
            <a:ext cx="548640" cy="54864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074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91640" y="4892040"/>
            <a:ext cx="9509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monitoring monthly trends to validate the seasonal growth pattern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6080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 |  Sales Analysis  |  Prepared for the CEO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2026-08-11T19:54:59Z</dcterms:created>
  <dcterms:modified xsi:type="dcterms:W3CDTF">2026-08-11T19:54:59Z</dcterms:modified>
</cp:coreProperties>
</file>